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5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881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Ankita Mandalam, a master's student in computer science at Northeastern University. This is my personal portfolio, built for Project 1 of CS 5610 Web Development.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resume gives me one page, and my work doesn't fit on one page. Over the last few years I've done two internships, published two research papers, and built projects across full-stack engineering, data, and machine learning. A resume can list those things, but it can't show them. So I split my story into three pages, each answering one question: who am I, what have I built, and how did I get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designed for three visitors. Maya is a recruiter with two minutes, so my degree, graduation date, and job target sit at the top of Home. David is an engineering manager looking for full-stack work, so projects have real detail and a filter. And Priya is a researcher who uses the keyboard and prefers reduced motion, so every interaction works without a mouse and respects that setting.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page went through the same three steps: a low-fidelity wireframe to settle the structure, a high-fidelity mockup in Figma for the look and feel, and then the build. Here's the Home page at each stage.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site is vanilla HTML, CSS, and JavaScript modules, with no frameworks. Layouts use Flexbox and CSS Grid, the code passes ESLint, Prettier, and the W3C validator, and it's deployed on GitHub Pages. The part I'm proudest of is the network simulation on the Home page: over 440 lines of my own JavaScript. It uses a seeded layout, so the network looks the same on every visit, breadth-first search to work out each sensor's route to the router, and canvas rendering with a text description for screen readers. Let me show you how it all comes together.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188720"/>
            <a:ext cx="4023360" cy="274320"/>
          </a:xfrm>
          <a:prstGeom prst="rect">
            <a:avLst/>
          </a:prstGeom>
          <a:noFill/>
          <a:ln/>
        </p:spPr>
        <p:txBody>
          <a:bodyPr wrap="square" lIns="0" tIns="0" rIns="0" bIns="0" rtlCol="0" anchor="ctr"/>
          <a:lstStyle/>
          <a:p>
            <a:pPr marL="0" indent="0">
              <a:buNone/>
            </a:pPr>
            <a:r>
              <a:rPr lang="en-US" sz="1300" b="1" dirty="0">
                <a:solidFill>
                  <a:srgbClr val="8F5C00"/>
                </a:solidFill>
                <a:latin typeface="Calibri" pitchFamily="34" charset="0"/>
                <a:ea typeface="Calibri" pitchFamily="34" charset="-122"/>
                <a:cs typeface="Calibri" pitchFamily="34" charset="-120"/>
              </a:rPr>
              <a:t>CS 5610 Web Development  ·  Project 1</a:t>
            </a:r>
            <a:endParaRPr lang="en-US" sz="1300" dirty="0"/>
          </a:p>
        </p:txBody>
      </p:sp>
      <p:sp>
        <p:nvSpPr>
          <p:cNvPr id="3" name="Text 1"/>
          <p:cNvSpPr txBox="1"/>
          <p:nvPr/>
        </p:nvSpPr>
        <p:spPr>
          <a:xfrm>
            <a:off x="548640" y="1554480"/>
            <a:ext cx="4206240" cy="731520"/>
          </a:xfrm>
          <a:prstGeom prst="rect">
            <a:avLst/>
          </a:prstGeom>
          <a:noFill/>
          <a:ln/>
        </p:spPr>
        <p:txBody>
          <a:bodyPr wrap="square" lIns="0" tIns="0" rIns="0" bIns="0" rtlCol="0" anchor="ctr"/>
          <a:lstStyle/>
          <a:p>
            <a:pPr marL="0" indent="0">
              <a:buNone/>
            </a:pPr>
            <a:r>
              <a:rPr lang="en-US" sz="4000" b="1" dirty="0">
                <a:solidFill>
                  <a:srgbClr val="23272F"/>
                </a:solidFill>
                <a:latin typeface="Cambria" pitchFamily="34" charset="0"/>
                <a:ea typeface="Cambria" pitchFamily="34" charset="-122"/>
                <a:cs typeface="Cambria" pitchFamily="34" charset="-120"/>
              </a:rPr>
              <a:t>Ankita Mandalam</a:t>
            </a:r>
            <a:endParaRPr lang="en-US" sz="4000" dirty="0"/>
          </a:p>
        </p:txBody>
      </p:sp>
      <p:sp>
        <p:nvSpPr>
          <p:cNvPr id="4" name="Text 2"/>
          <p:cNvSpPr txBox="1"/>
          <p:nvPr/>
        </p:nvSpPr>
        <p:spPr>
          <a:xfrm>
            <a:off x="548640" y="2286000"/>
            <a:ext cx="4206240" cy="502920"/>
          </a:xfrm>
          <a:prstGeom prst="rect">
            <a:avLst/>
          </a:prstGeom>
          <a:noFill/>
          <a:ln/>
        </p:spPr>
        <p:txBody>
          <a:bodyPr wrap="square" lIns="0" tIns="0" rIns="0" bIns="0" rtlCol="0" anchor="ctr"/>
          <a:lstStyle/>
          <a:p>
            <a:pPr marL="0" indent="0">
              <a:buNone/>
            </a:pPr>
            <a:r>
              <a:rPr lang="en-US" sz="2600" dirty="0">
                <a:solidFill>
                  <a:srgbClr val="23272F"/>
                </a:solidFill>
                <a:latin typeface="Cambria" pitchFamily="34" charset="0"/>
                <a:ea typeface="Cambria" pitchFamily="34" charset="-122"/>
                <a:cs typeface="Cambria" pitchFamily="34" charset="-120"/>
              </a:rPr>
              <a:t>Personal Portfolio</a:t>
            </a:r>
            <a:endParaRPr lang="en-US" sz="2600" dirty="0"/>
          </a:p>
        </p:txBody>
      </p:sp>
      <p:sp>
        <p:nvSpPr>
          <p:cNvPr id="5" name="Text 3"/>
          <p:cNvSpPr txBox="1"/>
          <p:nvPr/>
        </p:nvSpPr>
        <p:spPr>
          <a:xfrm>
            <a:off x="548640" y="2926080"/>
            <a:ext cx="4023360" cy="320040"/>
          </a:xfrm>
          <a:prstGeom prst="rect">
            <a:avLst/>
          </a:prstGeom>
          <a:noFill/>
          <a:ln/>
        </p:spPr>
        <p:txBody>
          <a:bodyPr wrap="square" lIns="0" tIns="0" rIns="0" bIns="0" rtlCol="0" anchor="ctr"/>
          <a:lstStyle/>
          <a:p>
            <a:pPr marL="0" indent="0">
              <a:buNone/>
            </a:pPr>
            <a:r>
              <a:rPr lang="en-US" sz="1500" dirty="0">
                <a:solidFill>
                  <a:srgbClr val="5B6270"/>
                </a:solidFill>
                <a:latin typeface="Calibri" pitchFamily="34" charset="0"/>
                <a:ea typeface="Calibri" pitchFamily="34" charset="-122"/>
                <a:cs typeface="Calibri" pitchFamily="34" charset="-120"/>
              </a:rPr>
              <a:t>MS Computer Science, Northeastern University</a:t>
            </a:r>
            <a:endParaRPr lang="en-US" sz="1500" dirty="0"/>
          </a:p>
        </p:txBody>
      </p:sp>
      <p:sp>
        <p:nvSpPr>
          <p:cNvPr id="6" name="Text 4"/>
          <p:cNvSpPr txBox="1"/>
          <p:nvPr/>
        </p:nvSpPr>
        <p:spPr>
          <a:xfrm>
            <a:off x="548640" y="4160520"/>
            <a:ext cx="4023360" cy="274320"/>
          </a:xfrm>
          <a:prstGeom prst="rect">
            <a:avLst/>
          </a:prstGeom>
          <a:noFill/>
          <a:ln/>
        </p:spPr>
        <p:txBody>
          <a:bodyPr wrap="square" lIns="0" tIns="0" rIns="0" bIns="0" rtlCol="0" anchor="ctr"/>
          <a:lstStyle/>
          <a:p>
            <a:pPr marL="0" indent="0">
              <a:buNone/>
            </a:pPr>
            <a:r>
              <a:rPr lang="en-US" sz="1300" dirty="0">
                <a:solidFill>
                  <a:srgbClr val="5B6270"/>
                </a:solidFill>
                <a:latin typeface="Calibri" pitchFamily="34" charset="0"/>
                <a:ea typeface="Calibri" pitchFamily="34" charset="-122"/>
                <a:cs typeface="Calibri" pitchFamily="34" charset="-120"/>
              </a:rPr>
              <a:t>ankitam389.github.io/ankita-portfolio</a:t>
            </a:r>
            <a:endParaRPr lang="en-US" sz="1300" dirty="0"/>
          </a:p>
        </p:txBody>
      </p:sp>
      <p:pic>
        <p:nvPicPr>
          <p:cNvPr id="7" name="Image 0" descr="shot-projects.png"/>
          <p:cNvPicPr>
            <a:picLocks noChangeAspect="1"/>
          </p:cNvPicPr>
          <p:nvPr/>
        </p:nvPicPr>
        <p:blipFill>
          <a:blip r:embed="rId3"/>
          <a:stretch>
            <a:fillRect/>
          </a:stretch>
        </p:blipFill>
        <p:spPr>
          <a:xfrm>
            <a:off x="5074920" y="822960"/>
            <a:ext cx="3017520" cy="1885950"/>
          </a:xfrm>
          <a:prstGeom prst="rect">
            <a:avLst/>
          </a:prstGeom>
          <a:effectLst>
            <a:outerShdw blurRad="101600" dist="38100" dir="5400000" algn="bl" rotWithShape="0">
              <a:srgbClr val="000000">
                <a:alpha val="18000"/>
              </a:srgbClr>
            </a:outerShdw>
          </a:effectLst>
        </p:spPr>
      </p:pic>
      <p:pic>
        <p:nvPicPr>
          <p:cNvPr id="8" name="Image 1" descr="shot-journey.png"/>
          <p:cNvPicPr>
            <a:picLocks noChangeAspect="1"/>
          </p:cNvPicPr>
          <p:nvPr/>
        </p:nvPicPr>
        <p:blipFill>
          <a:blip r:embed="rId4"/>
          <a:stretch>
            <a:fillRect/>
          </a:stretch>
        </p:blipFill>
        <p:spPr>
          <a:xfrm>
            <a:off x="5623560" y="2377440"/>
            <a:ext cx="3017520" cy="1885950"/>
          </a:xfrm>
          <a:prstGeom prst="rect">
            <a:avLst/>
          </a:prstGeom>
          <a:effectLst>
            <a:outerShdw blurRad="101600" dist="38100" dir="5400000" algn="bl" rotWithShape="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046720" cy="685800"/>
          </a:xfrm>
          <a:prstGeom prst="rect">
            <a:avLst/>
          </a:prstGeom>
          <a:noFill/>
          <a:ln/>
        </p:spPr>
        <p:txBody>
          <a:bodyPr wrap="square" lIns="0" tIns="0" rIns="0" bIns="0" rtlCol="0" anchor="ctr"/>
          <a:lstStyle/>
          <a:p>
            <a:pPr marL="0" indent="0">
              <a:buNone/>
            </a:pPr>
            <a:r>
              <a:rPr lang="en-US" sz="3400" b="1" dirty="0">
                <a:solidFill>
                  <a:srgbClr val="23272F"/>
                </a:solidFill>
                <a:latin typeface="Cambria" pitchFamily="34" charset="0"/>
                <a:ea typeface="Cambria" pitchFamily="34" charset="-122"/>
                <a:cs typeface="Cambria" pitchFamily="34" charset="-120"/>
              </a:rPr>
              <a:t>The problem</a:t>
            </a:r>
            <a:endParaRPr lang="en-US" sz="3400" dirty="0"/>
          </a:p>
        </p:txBody>
      </p:sp>
      <p:sp>
        <p:nvSpPr>
          <p:cNvPr id="3" name="Text 1"/>
          <p:cNvSpPr txBox="1"/>
          <p:nvPr/>
        </p:nvSpPr>
        <p:spPr>
          <a:xfrm>
            <a:off x="548640" y="1325880"/>
            <a:ext cx="3931920" cy="868680"/>
          </a:xfrm>
          <a:prstGeom prst="rect">
            <a:avLst/>
          </a:prstGeom>
          <a:noFill/>
          <a:ln/>
        </p:spPr>
        <p:txBody>
          <a:bodyPr wrap="square" lIns="0" tIns="0" rIns="0" bIns="0" rtlCol="0" anchor="t"/>
          <a:lstStyle/>
          <a:p>
            <a:pPr marL="0" indent="0">
              <a:buNone/>
            </a:pPr>
            <a:r>
              <a:rPr lang="en-US" sz="2400" b="1" dirty="0">
                <a:solidFill>
                  <a:srgbClr val="23272F"/>
                </a:solidFill>
                <a:latin typeface="Cambria" pitchFamily="34" charset="0"/>
                <a:ea typeface="Cambria" pitchFamily="34" charset="-122"/>
                <a:cs typeface="Cambria" pitchFamily="34" charset="-120"/>
              </a:rPr>
              <a:t>One page can't show everything I've built.</a:t>
            </a:r>
            <a:endParaRPr lang="en-US" sz="2400" dirty="0"/>
          </a:p>
        </p:txBody>
      </p:sp>
      <p:sp>
        <p:nvSpPr>
          <p:cNvPr id="4" name="Text 2"/>
          <p:cNvSpPr txBox="1"/>
          <p:nvPr/>
        </p:nvSpPr>
        <p:spPr>
          <a:xfrm>
            <a:off x="548640" y="2286000"/>
            <a:ext cx="3840480" cy="1097280"/>
          </a:xfrm>
          <a:prstGeom prst="rect">
            <a:avLst/>
          </a:prstGeom>
          <a:noFill/>
          <a:ln/>
        </p:spPr>
        <p:txBody>
          <a:bodyPr wrap="square" lIns="0" tIns="0" rIns="0" bIns="0" rtlCol="0" anchor="t"/>
          <a:lstStyle/>
          <a:p>
            <a:pPr marL="0" indent="0">
              <a:buNone/>
            </a:pPr>
            <a:r>
              <a:rPr lang="en-US" sz="1600" dirty="0">
                <a:solidFill>
                  <a:srgbClr val="5B6270"/>
                </a:solidFill>
                <a:latin typeface="Calibri" pitchFamily="34" charset="0"/>
                <a:ea typeface="Calibri" pitchFamily="34" charset="-122"/>
                <a:cs typeface="Calibri" pitchFamily="34" charset="-120"/>
              </a:rPr>
              <a:t>Two internships, two research papers, and four projects, across full-stack engineering, data, and machine learning. A resume can list them. It can't show them.</a:t>
            </a:r>
            <a:endParaRPr lang="en-US" sz="1600" dirty="0"/>
          </a:p>
        </p:txBody>
      </p:sp>
      <p:sp>
        <p:nvSpPr>
          <p:cNvPr id="5" name="Text 3"/>
          <p:cNvSpPr txBox="1"/>
          <p:nvPr/>
        </p:nvSpPr>
        <p:spPr>
          <a:xfrm>
            <a:off x="548640" y="3520440"/>
            <a:ext cx="3840480" cy="640080"/>
          </a:xfrm>
          <a:prstGeom prst="rect">
            <a:avLst/>
          </a:prstGeom>
          <a:noFill/>
          <a:ln/>
        </p:spPr>
        <p:txBody>
          <a:bodyPr wrap="square" lIns="0" tIns="0" rIns="0" bIns="0" rtlCol="0" anchor="t"/>
          <a:lstStyle/>
          <a:p>
            <a:pPr marL="0" indent="0">
              <a:buNone/>
            </a:pPr>
            <a:r>
              <a:rPr lang="en-US" sz="1600" i="1" dirty="0">
                <a:solidFill>
                  <a:srgbClr val="8F5C00"/>
                </a:solidFill>
                <a:latin typeface="Calibri" pitchFamily="34" charset="0"/>
                <a:ea typeface="Calibri" pitchFamily="34" charset="-122"/>
                <a:cs typeface="Calibri" pitchFamily="34" charset="-120"/>
              </a:rPr>
              <a:t>So the portfolio tells the story in three pages, each answering one question.</a:t>
            </a:r>
            <a:endParaRPr lang="en-US" sz="1600" dirty="0"/>
          </a:p>
        </p:txBody>
      </p:sp>
      <p:sp>
        <p:nvSpPr>
          <p:cNvPr id="6" name="Shape 4"/>
          <p:cNvSpPr/>
          <p:nvPr/>
        </p:nvSpPr>
        <p:spPr>
          <a:xfrm>
            <a:off x="4846320" y="1280160"/>
            <a:ext cx="3749040" cy="868680"/>
          </a:xfrm>
          <a:prstGeom prst="roundRect">
            <a:avLst>
              <a:gd name="adj" fmla="val 8421"/>
            </a:avLst>
          </a:prstGeom>
          <a:solidFill>
            <a:srgbClr val="F3F4F6"/>
          </a:solidFill>
          <a:ln w="12700">
            <a:solidFill>
              <a:srgbClr val="F3F4F6"/>
            </a:solidFill>
            <a:prstDash val="solid"/>
          </a:ln>
        </p:spPr>
      </p:sp>
      <p:sp>
        <p:nvSpPr>
          <p:cNvPr id="7" name="Shape 5"/>
          <p:cNvSpPr/>
          <p:nvPr/>
        </p:nvSpPr>
        <p:spPr>
          <a:xfrm>
            <a:off x="5074920" y="1463040"/>
            <a:ext cx="502920" cy="502920"/>
          </a:xfrm>
          <a:prstGeom prst="ellipse">
            <a:avLst/>
          </a:prstGeom>
          <a:solidFill>
            <a:srgbClr val="B7770A"/>
          </a:solidFill>
          <a:ln w="12700">
            <a:solidFill>
              <a:srgbClr val="B7770A"/>
            </a:solidFill>
            <a:prstDash val="solid"/>
          </a:ln>
        </p:spPr>
      </p:sp>
      <p:pic>
        <p:nvPicPr>
          <p:cNvPr id="8" name="Image 0" descr="preencoded.png"/>
          <p:cNvPicPr>
            <a:picLocks noChangeAspect="1"/>
          </p:cNvPicPr>
          <p:nvPr/>
        </p:nvPicPr>
        <p:blipFill>
          <a:blip r:embed="rId3"/>
          <a:stretch>
            <a:fillRect/>
          </a:stretch>
        </p:blipFill>
        <p:spPr>
          <a:xfrm>
            <a:off x="5205679" y="1593799"/>
            <a:ext cx="241402" cy="241402"/>
          </a:xfrm>
          <a:prstGeom prst="rect">
            <a:avLst/>
          </a:prstGeom>
        </p:spPr>
      </p:pic>
      <p:sp>
        <p:nvSpPr>
          <p:cNvPr id="9" name="Text 6"/>
          <p:cNvSpPr txBox="1"/>
          <p:nvPr/>
        </p:nvSpPr>
        <p:spPr>
          <a:xfrm>
            <a:off x="5806440" y="1399032"/>
            <a:ext cx="2651760" cy="329184"/>
          </a:xfrm>
          <a:prstGeom prst="rect">
            <a:avLst/>
          </a:prstGeom>
          <a:noFill/>
          <a:ln/>
        </p:spPr>
        <p:txBody>
          <a:bodyPr wrap="square" lIns="0" tIns="0" rIns="0" bIns="0" rtlCol="0" anchor="ctr"/>
          <a:lstStyle/>
          <a:p>
            <a:pPr marL="0" indent="0">
              <a:buNone/>
            </a:pPr>
            <a:r>
              <a:rPr lang="en-US" sz="1800" b="1" dirty="0">
                <a:solidFill>
                  <a:srgbClr val="23272F"/>
                </a:solidFill>
                <a:latin typeface="Cambria" pitchFamily="34" charset="0"/>
                <a:ea typeface="Cambria" pitchFamily="34" charset="-122"/>
                <a:cs typeface="Cambria" pitchFamily="34" charset="-120"/>
              </a:rPr>
              <a:t>Home</a:t>
            </a:r>
            <a:endParaRPr lang="en-US" sz="1800" dirty="0"/>
          </a:p>
        </p:txBody>
      </p:sp>
      <p:sp>
        <p:nvSpPr>
          <p:cNvPr id="10" name="Text 7"/>
          <p:cNvSpPr txBox="1"/>
          <p:nvPr/>
        </p:nvSpPr>
        <p:spPr>
          <a:xfrm>
            <a:off x="5806440" y="1737360"/>
            <a:ext cx="2651760" cy="292608"/>
          </a:xfrm>
          <a:prstGeom prst="rect">
            <a:avLst/>
          </a:prstGeom>
          <a:noFill/>
          <a:ln/>
        </p:spPr>
        <p:txBody>
          <a:bodyPr wrap="square" lIns="0" tIns="0" rIns="0" bIns="0" rtlCol="0" anchor="ctr"/>
          <a:lstStyle/>
          <a:p>
            <a:pPr marL="0" indent="0">
              <a:buNone/>
            </a:pPr>
            <a:r>
              <a:rPr lang="en-US" sz="1400" dirty="0">
                <a:solidFill>
                  <a:srgbClr val="5B6270"/>
                </a:solidFill>
                <a:latin typeface="Calibri" pitchFamily="34" charset="0"/>
                <a:ea typeface="Calibri" pitchFamily="34" charset="-122"/>
                <a:cs typeface="Calibri" pitchFamily="34" charset="-120"/>
              </a:rPr>
              <a:t>Who am I?</a:t>
            </a:r>
            <a:endParaRPr lang="en-US" sz="1400" dirty="0"/>
          </a:p>
        </p:txBody>
      </p:sp>
      <p:sp>
        <p:nvSpPr>
          <p:cNvPr id="11" name="Shape 8"/>
          <p:cNvSpPr/>
          <p:nvPr/>
        </p:nvSpPr>
        <p:spPr>
          <a:xfrm>
            <a:off x="4846320" y="2377440"/>
            <a:ext cx="3749040" cy="868680"/>
          </a:xfrm>
          <a:prstGeom prst="roundRect">
            <a:avLst>
              <a:gd name="adj" fmla="val 8421"/>
            </a:avLst>
          </a:prstGeom>
          <a:solidFill>
            <a:srgbClr val="F3F4F6"/>
          </a:solidFill>
          <a:ln w="12700">
            <a:solidFill>
              <a:srgbClr val="F3F4F6"/>
            </a:solidFill>
            <a:prstDash val="solid"/>
          </a:ln>
        </p:spPr>
      </p:sp>
      <p:sp>
        <p:nvSpPr>
          <p:cNvPr id="12" name="Shape 9"/>
          <p:cNvSpPr/>
          <p:nvPr/>
        </p:nvSpPr>
        <p:spPr>
          <a:xfrm>
            <a:off x="5074920" y="2560320"/>
            <a:ext cx="502920" cy="502920"/>
          </a:xfrm>
          <a:prstGeom prst="ellipse">
            <a:avLst/>
          </a:prstGeom>
          <a:solidFill>
            <a:srgbClr val="B7770A"/>
          </a:solidFill>
          <a:ln w="12700">
            <a:solidFill>
              <a:srgbClr val="B7770A"/>
            </a:solidFill>
            <a:prstDash val="solid"/>
          </a:ln>
        </p:spPr>
      </p:sp>
      <p:pic>
        <p:nvPicPr>
          <p:cNvPr id="13" name="Image 1" descr="preencoded.png"/>
          <p:cNvPicPr>
            <a:picLocks noChangeAspect="1"/>
          </p:cNvPicPr>
          <p:nvPr/>
        </p:nvPicPr>
        <p:blipFill>
          <a:blip r:embed="rId4"/>
          <a:stretch>
            <a:fillRect/>
          </a:stretch>
        </p:blipFill>
        <p:spPr>
          <a:xfrm>
            <a:off x="5205679" y="2691079"/>
            <a:ext cx="241402" cy="241402"/>
          </a:xfrm>
          <a:prstGeom prst="rect">
            <a:avLst/>
          </a:prstGeom>
        </p:spPr>
      </p:pic>
      <p:sp>
        <p:nvSpPr>
          <p:cNvPr id="14" name="Text 10"/>
          <p:cNvSpPr txBox="1"/>
          <p:nvPr/>
        </p:nvSpPr>
        <p:spPr>
          <a:xfrm>
            <a:off x="5806440" y="2496312"/>
            <a:ext cx="2651760" cy="329184"/>
          </a:xfrm>
          <a:prstGeom prst="rect">
            <a:avLst/>
          </a:prstGeom>
          <a:noFill/>
          <a:ln/>
        </p:spPr>
        <p:txBody>
          <a:bodyPr wrap="square" lIns="0" tIns="0" rIns="0" bIns="0" rtlCol="0" anchor="ctr"/>
          <a:lstStyle/>
          <a:p>
            <a:pPr marL="0" indent="0">
              <a:buNone/>
            </a:pPr>
            <a:r>
              <a:rPr lang="en-US" sz="1800" b="1" dirty="0">
                <a:solidFill>
                  <a:srgbClr val="23272F"/>
                </a:solidFill>
                <a:latin typeface="Cambria" pitchFamily="34" charset="0"/>
                <a:ea typeface="Cambria" pitchFamily="34" charset="-122"/>
                <a:cs typeface="Cambria" pitchFamily="34" charset="-120"/>
              </a:rPr>
              <a:t>Projects</a:t>
            </a:r>
            <a:endParaRPr lang="en-US" sz="1800" dirty="0"/>
          </a:p>
        </p:txBody>
      </p:sp>
      <p:sp>
        <p:nvSpPr>
          <p:cNvPr id="15" name="Text 11"/>
          <p:cNvSpPr txBox="1"/>
          <p:nvPr/>
        </p:nvSpPr>
        <p:spPr>
          <a:xfrm>
            <a:off x="5806440" y="2834640"/>
            <a:ext cx="2651760" cy="292608"/>
          </a:xfrm>
          <a:prstGeom prst="rect">
            <a:avLst/>
          </a:prstGeom>
          <a:noFill/>
          <a:ln/>
        </p:spPr>
        <p:txBody>
          <a:bodyPr wrap="square" lIns="0" tIns="0" rIns="0" bIns="0" rtlCol="0" anchor="ctr"/>
          <a:lstStyle/>
          <a:p>
            <a:pPr marL="0" indent="0">
              <a:buNone/>
            </a:pPr>
            <a:r>
              <a:rPr lang="en-US" sz="1400" dirty="0">
                <a:solidFill>
                  <a:srgbClr val="5B6270"/>
                </a:solidFill>
                <a:latin typeface="Calibri" pitchFamily="34" charset="0"/>
                <a:ea typeface="Calibri" pitchFamily="34" charset="-122"/>
                <a:cs typeface="Calibri" pitchFamily="34" charset="-120"/>
              </a:rPr>
              <a:t>What have I built?</a:t>
            </a:r>
            <a:endParaRPr lang="en-US" sz="1400" dirty="0"/>
          </a:p>
        </p:txBody>
      </p:sp>
      <p:sp>
        <p:nvSpPr>
          <p:cNvPr id="16" name="Shape 12"/>
          <p:cNvSpPr/>
          <p:nvPr/>
        </p:nvSpPr>
        <p:spPr>
          <a:xfrm>
            <a:off x="4846320" y="3474720"/>
            <a:ext cx="3749040" cy="868680"/>
          </a:xfrm>
          <a:prstGeom prst="roundRect">
            <a:avLst>
              <a:gd name="adj" fmla="val 8421"/>
            </a:avLst>
          </a:prstGeom>
          <a:solidFill>
            <a:srgbClr val="F3F4F6"/>
          </a:solidFill>
          <a:ln w="12700">
            <a:solidFill>
              <a:srgbClr val="F3F4F6"/>
            </a:solidFill>
            <a:prstDash val="solid"/>
          </a:ln>
        </p:spPr>
      </p:sp>
      <p:sp>
        <p:nvSpPr>
          <p:cNvPr id="17" name="Shape 13"/>
          <p:cNvSpPr/>
          <p:nvPr/>
        </p:nvSpPr>
        <p:spPr>
          <a:xfrm>
            <a:off x="5074920" y="3657600"/>
            <a:ext cx="502920" cy="502920"/>
          </a:xfrm>
          <a:prstGeom prst="ellipse">
            <a:avLst/>
          </a:prstGeom>
          <a:solidFill>
            <a:srgbClr val="B7770A"/>
          </a:solidFill>
          <a:ln w="12700">
            <a:solidFill>
              <a:srgbClr val="B7770A"/>
            </a:solidFill>
            <a:prstDash val="solid"/>
          </a:ln>
        </p:spPr>
      </p:sp>
      <p:pic>
        <p:nvPicPr>
          <p:cNvPr id="18" name="Image 2" descr="preencoded.png"/>
          <p:cNvPicPr>
            <a:picLocks noChangeAspect="1"/>
          </p:cNvPicPr>
          <p:nvPr/>
        </p:nvPicPr>
        <p:blipFill>
          <a:blip r:embed="rId5"/>
          <a:stretch>
            <a:fillRect/>
          </a:stretch>
        </p:blipFill>
        <p:spPr>
          <a:xfrm>
            <a:off x="5205679" y="3788359"/>
            <a:ext cx="241402" cy="241402"/>
          </a:xfrm>
          <a:prstGeom prst="rect">
            <a:avLst/>
          </a:prstGeom>
        </p:spPr>
      </p:pic>
      <p:sp>
        <p:nvSpPr>
          <p:cNvPr id="19" name="Text 14"/>
          <p:cNvSpPr txBox="1"/>
          <p:nvPr/>
        </p:nvSpPr>
        <p:spPr>
          <a:xfrm>
            <a:off x="5806440" y="3593592"/>
            <a:ext cx="2651760" cy="329184"/>
          </a:xfrm>
          <a:prstGeom prst="rect">
            <a:avLst/>
          </a:prstGeom>
          <a:noFill/>
          <a:ln/>
        </p:spPr>
        <p:txBody>
          <a:bodyPr wrap="square" lIns="0" tIns="0" rIns="0" bIns="0" rtlCol="0" anchor="ctr"/>
          <a:lstStyle/>
          <a:p>
            <a:pPr marL="0" indent="0">
              <a:buNone/>
            </a:pPr>
            <a:r>
              <a:rPr lang="en-US" sz="1800" b="1" dirty="0">
                <a:solidFill>
                  <a:srgbClr val="23272F"/>
                </a:solidFill>
                <a:latin typeface="Cambria" pitchFamily="34" charset="0"/>
                <a:ea typeface="Cambria" pitchFamily="34" charset="-122"/>
                <a:cs typeface="Cambria" pitchFamily="34" charset="-120"/>
              </a:rPr>
              <a:t>Journey</a:t>
            </a:r>
            <a:endParaRPr lang="en-US" sz="1800" dirty="0"/>
          </a:p>
        </p:txBody>
      </p:sp>
      <p:sp>
        <p:nvSpPr>
          <p:cNvPr id="20" name="Text 15"/>
          <p:cNvSpPr txBox="1"/>
          <p:nvPr/>
        </p:nvSpPr>
        <p:spPr>
          <a:xfrm>
            <a:off x="5806440" y="3931920"/>
            <a:ext cx="2651760" cy="292608"/>
          </a:xfrm>
          <a:prstGeom prst="rect">
            <a:avLst/>
          </a:prstGeom>
          <a:noFill/>
          <a:ln/>
        </p:spPr>
        <p:txBody>
          <a:bodyPr wrap="square" lIns="0" tIns="0" rIns="0" bIns="0" rtlCol="0" anchor="ctr"/>
          <a:lstStyle/>
          <a:p>
            <a:pPr marL="0" indent="0">
              <a:buNone/>
            </a:pPr>
            <a:r>
              <a:rPr lang="en-US" sz="1400" dirty="0">
                <a:solidFill>
                  <a:srgbClr val="5B6270"/>
                </a:solidFill>
                <a:latin typeface="Calibri" pitchFamily="34" charset="0"/>
                <a:ea typeface="Calibri" pitchFamily="34" charset="-122"/>
                <a:cs typeface="Calibri" pitchFamily="34" charset="-120"/>
              </a:rPr>
              <a:t>How did I get here?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046720" cy="685800"/>
          </a:xfrm>
          <a:prstGeom prst="rect">
            <a:avLst/>
          </a:prstGeom>
          <a:noFill/>
          <a:ln/>
        </p:spPr>
        <p:txBody>
          <a:bodyPr wrap="square" lIns="0" tIns="0" rIns="0" bIns="0" rtlCol="0" anchor="ctr"/>
          <a:lstStyle/>
          <a:p>
            <a:pPr marL="0" indent="0">
              <a:buNone/>
            </a:pPr>
            <a:r>
              <a:rPr lang="en-US" sz="3400" b="1" dirty="0">
                <a:solidFill>
                  <a:srgbClr val="23272F"/>
                </a:solidFill>
                <a:latin typeface="Cambria" pitchFamily="34" charset="0"/>
                <a:ea typeface="Cambria" pitchFamily="34" charset="-122"/>
                <a:cs typeface="Cambria" pitchFamily="34" charset="-120"/>
              </a:rPr>
              <a:t>Who it's for</a:t>
            </a:r>
            <a:endParaRPr lang="en-US" sz="3400" dirty="0"/>
          </a:p>
        </p:txBody>
      </p:sp>
      <p:sp>
        <p:nvSpPr>
          <p:cNvPr id="3" name="Shape 1"/>
          <p:cNvSpPr/>
          <p:nvPr/>
        </p:nvSpPr>
        <p:spPr>
          <a:xfrm>
            <a:off x="548640" y="1325880"/>
            <a:ext cx="2514600" cy="2971800"/>
          </a:xfrm>
          <a:prstGeom prst="roundRect">
            <a:avLst>
              <a:gd name="adj" fmla="val 3636"/>
            </a:avLst>
          </a:prstGeom>
          <a:solidFill>
            <a:srgbClr val="F3F4F6"/>
          </a:solidFill>
          <a:ln w="12700">
            <a:solidFill>
              <a:srgbClr val="F3F4F6"/>
            </a:solidFill>
            <a:prstDash val="solid"/>
          </a:ln>
        </p:spPr>
      </p:sp>
      <p:sp>
        <p:nvSpPr>
          <p:cNvPr id="4" name="Shape 2"/>
          <p:cNvSpPr/>
          <p:nvPr/>
        </p:nvSpPr>
        <p:spPr>
          <a:xfrm>
            <a:off x="822960" y="1600200"/>
            <a:ext cx="640080" cy="640080"/>
          </a:xfrm>
          <a:prstGeom prst="ellipse">
            <a:avLst/>
          </a:prstGeom>
          <a:solidFill>
            <a:srgbClr val="B7770A"/>
          </a:solidFill>
          <a:ln w="12700">
            <a:solidFill>
              <a:srgbClr val="B7770A"/>
            </a:solidFill>
            <a:prstDash val="solid"/>
          </a:ln>
        </p:spPr>
      </p:sp>
      <p:pic>
        <p:nvPicPr>
          <p:cNvPr id="5" name="Image 0" descr="preencoded.png"/>
          <p:cNvPicPr>
            <a:picLocks noChangeAspect="1"/>
          </p:cNvPicPr>
          <p:nvPr/>
        </p:nvPicPr>
        <p:blipFill>
          <a:blip r:embed="rId3"/>
          <a:stretch>
            <a:fillRect/>
          </a:stretch>
        </p:blipFill>
        <p:spPr>
          <a:xfrm>
            <a:off x="989381" y="1766621"/>
            <a:ext cx="307238" cy="307238"/>
          </a:xfrm>
          <a:prstGeom prst="rect">
            <a:avLst/>
          </a:prstGeom>
        </p:spPr>
      </p:pic>
      <p:sp>
        <p:nvSpPr>
          <p:cNvPr id="6" name="Text 3"/>
          <p:cNvSpPr txBox="1"/>
          <p:nvPr/>
        </p:nvSpPr>
        <p:spPr>
          <a:xfrm>
            <a:off x="822960" y="2423160"/>
            <a:ext cx="2011680" cy="365760"/>
          </a:xfrm>
          <a:prstGeom prst="rect">
            <a:avLst/>
          </a:prstGeom>
          <a:noFill/>
          <a:ln/>
        </p:spPr>
        <p:txBody>
          <a:bodyPr wrap="square" lIns="0" tIns="0" rIns="0" bIns="0" rtlCol="0" anchor="ctr"/>
          <a:lstStyle/>
          <a:p>
            <a:pPr marL="0" indent="0">
              <a:buNone/>
            </a:pPr>
            <a:r>
              <a:rPr lang="en-US" sz="2000" b="1" dirty="0">
                <a:solidFill>
                  <a:srgbClr val="23272F"/>
                </a:solidFill>
                <a:latin typeface="Cambria" pitchFamily="34" charset="0"/>
                <a:ea typeface="Cambria" pitchFamily="34" charset="-122"/>
                <a:cs typeface="Cambria" pitchFamily="34" charset="-120"/>
              </a:rPr>
              <a:t>Maya</a:t>
            </a:r>
            <a:endParaRPr lang="en-US" sz="2000" dirty="0"/>
          </a:p>
        </p:txBody>
      </p:sp>
      <p:sp>
        <p:nvSpPr>
          <p:cNvPr id="7" name="Text 4"/>
          <p:cNvSpPr txBox="1"/>
          <p:nvPr/>
        </p:nvSpPr>
        <p:spPr>
          <a:xfrm>
            <a:off x="822960" y="2788920"/>
            <a:ext cx="2011680" cy="274320"/>
          </a:xfrm>
          <a:prstGeom prst="rect">
            <a:avLst/>
          </a:prstGeom>
          <a:noFill/>
          <a:ln/>
        </p:spPr>
        <p:txBody>
          <a:bodyPr wrap="square" lIns="0" tIns="0" rIns="0" bIns="0" rtlCol="0" anchor="ctr"/>
          <a:lstStyle/>
          <a:p>
            <a:pPr marL="0" indent="0">
              <a:buNone/>
            </a:pPr>
            <a:r>
              <a:rPr lang="en-US" sz="1300" b="1" dirty="0">
                <a:solidFill>
                  <a:srgbClr val="8F5C00"/>
                </a:solidFill>
                <a:latin typeface="Calibri" pitchFamily="34" charset="0"/>
                <a:ea typeface="Calibri" pitchFamily="34" charset="-122"/>
                <a:cs typeface="Calibri" pitchFamily="34" charset="-120"/>
              </a:rPr>
              <a:t>Technical recruiter</a:t>
            </a:r>
            <a:endParaRPr lang="en-US" sz="1300" dirty="0"/>
          </a:p>
        </p:txBody>
      </p:sp>
      <p:sp>
        <p:nvSpPr>
          <p:cNvPr id="8" name="Text 5"/>
          <p:cNvSpPr txBox="1"/>
          <p:nvPr/>
        </p:nvSpPr>
        <p:spPr>
          <a:xfrm>
            <a:off x="822960" y="3200400"/>
            <a:ext cx="2011680" cy="1005840"/>
          </a:xfrm>
          <a:prstGeom prst="rect">
            <a:avLst/>
          </a:prstGeom>
          <a:noFill/>
          <a:ln/>
        </p:spPr>
        <p:txBody>
          <a:bodyPr wrap="square" lIns="0" tIns="0" rIns="0" bIns="0" rtlCol="0" anchor="t"/>
          <a:lstStyle/>
          <a:p>
            <a:pPr marL="0" indent="0">
              <a:buNone/>
            </a:pPr>
            <a:r>
              <a:rPr lang="en-US" sz="1400" dirty="0">
                <a:solidFill>
                  <a:srgbClr val="23272F"/>
                </a:solidFill>
                <a:latin typeface="Calibri" pitchFamily="34" charset="0"/>
                <a:ea typeface="Calibri" pitchFamily="34" charset="-122"/>
                <a:cs typeface="Calibri" pitchFamily="34" charset="-120"/>
              </a:rPr>
              <a:t>Needs the basics fast: degree, graduation date, and job target, without scrolling.</a:t>
            </a:r>
            <a:endParaRPr lang="en-US" sz="1400" dirty="0"/>
          </a:p>
        </p:txBody>
      </p:sp>
      <p:sp>
        <p:nvSpPr>
          <p:cNvPr id="9" name="Shape 6"/>
          <p:cNvSpPr/>
          <p:nvPr/>
        </p:nvSpPr>
        <p:spPr>
          <a:xfrm>
            <a:off x="3291840" y="1325880"/>
            <a:ext cx="2514600" cy="2971800"/>
          </a:xfrm>
          <a:prstGeom prst="roundRect">
            <a:avLst>
              <a:gd name="adj" fmla="val 3636"/>
            </a:avLst>
          </a:prstGeom>
          <a:solidFill>
            <a:srgbClr val="F3F4F6"/>
          </a:solidFill>
          <a:ln w="12700">
            <a:solidFill>
              <a:srgbClr val="F3F4F6"/>
            </a:solidFill>
            <a:prstDash val="solid"/>
          </a:ln>
        </p:spPr>
      </p:sp>
      <p:sp>
        <p:nvSpPr>
          <p:cNvPr id="10" name="Shape 7"/>
          <p:cNvSpPr/>
          <p:nvPr/>
        </p:nvSpPr>
        <p:spPr>
          <a:xfrm>
            <a:off x="3566160" y="1600200"/>
            <a:ext cx="640080" cy="640080"/>
          </a:xfrm>
          <a:prstGeom prst="ellipse">
            <a:avLst/>
          </a:prstGeom>
          <a:solidFill>
            <a:srgbClr val="B7770A"/>
          </a:solidFill>
          <a:ln w="12700">
            <a:solidFill>
              <a:srgbClr val="B7770A"/>
            </a:solidFill>
            <a:prstDash val="solid"/>
          </a:ln>
        </p:spPr>
      </p:sp>
      <p:pic>
        <p:nvPicPr>
          <p:cNvPr id="11" name="Image 1" descr="preencoded.png"/>
          <p:cNvPicPr>
            <a:picLocks noChangeAspect="1"/>
          </p:cNvPicPr>
          <p:nvPr/>
        </p:nvPicPr>
        <p:blipFill>
          <a:blip r:embed="rId4"/>
          <a:stretch>
            <a:fillRect/>
          </a:stretch>
        </p:blipFill>
        <p:spPr>
          <a:xfrm>
            <a:off x="3732581" y="1766621"/>
            <a:ext cx="307238" cy="307238"/>
          </a:xfrm>
          <a:prstGeom prst="rect">
            <a:avLst/>
          </a:prstGeom>
        </p:spPr>
      </p:pic>
      <p:sp>
        <p:nvSpPr>
          <p:cNvPr id="12" name="Text 8"/>
          <p:cNvSpPr txBox="1"/>
          <p:nvPr/>
        </p:nvSpPr>
        <p:spPr>
          <a:xfrm>
            <a:off x="3566160" y="2423160"/>
            <a:ext cx="2011680" cy="365760"/>
          </a:xfrm>
          <a:prstGeom prst="rect">
            <a:avLst/>
          </a:prstGeom>
          <a:noFill/>
          <a:ln/>
        </p:spPr>
        <p:txBody>
          <a:bodyPr wrap="square" lIns="0" tIns="0" rIns="0" bIns="0" rtlCol="0" anchor="ctr"/>
          <a:lstStyle/>
          <a:p>
            <a:pPr marL="0" indent="0">
              <a:buNone/>
            </a:pPr>
            <a:r>
              <a:rPr lang="en-US" sz="2000" b="1" dirty="0">
                <a:solidFill>
                  <a:srgbClr val="23272F"/>
                </a:solidFill>
                <a:latin typeface="Cambria" pitchFamily="34" charset="0"/>
                <a:ea typeface="Cambria" pitchFamily="34" charset="-122"/>
                <a:cs typeface="Cambria" pitchFamily="34" charset="-120"/>
              </a:rPr>
              <a:t>David</a:t>
            </a:r>
            <a:endParaRPr lang="en-US" sz="2000" dirty="0"/>
          </a:p>
        </p:txBody>
      </p:sp>
      <p:sp>
        <p:nvSpPr>
          <p:cNvPr id="13" name="Text 9"/>
          <p:cNvSpPr txBox="1"/>
          <p:nvPr/>
        </p:nvSpPr>
        <p:spPr>
          <a:xfrm>
            <a:off x="3566160" y="2788920"/>
            <a:ext cx="2011680" cy="274320"/>
          </a:xfrm>
          <a:prstGeom prst="rect">
            <a:avLst/>
          </a:prstGeom>
          <a:noFill/>
          <a:ln/>
        </p:spPr>
        <p:txBody>
          <a:bodyPr wrap="square" lIns="0" tIns="0" rIns="0" bIns="0" rtlCol="0" anchor="ctr"/>
          <a:lstStyle/>
          <a:p>
            <a:pPr marL="0" indent="0">
              <a:buNone/>
            </a:pPr>
            <a:r>
              <a:rPr lang="en-US" sz="1300" b="1" dirty="0">
                <a:solidFill>
                  <a:srgbClr val="8F5C00"/>
                </a:solidFill>
                <a:latin typeface="Calibri" pitchFamily="34" charset="0"/>
                <a:ea typeface="Calibri" pitchFamily="34" charset="-122"/>
                <a:cs typeface="Calibri" pitchFamily="34" charset="-120"/>
              </a:rPr>
              <a:t>Engineering manager</a:t>
            </a:r>
            <a:endParaRPr lang="en-US" sz="1300" dirty="0"/>
          </a:p>
        </p:txBody>
      </p:sp>
      <p:sp>
        <p:nvSpPr>
          <p:cNvPr id="14" name="Text 10"/>
          <p:cNvSpPr txBox="1"/>
          <p:nvPr/>
        </p:nvSpPr>
        <p:spPr>
          <a:xfrm>
            <a:off x="3566160" y="3200400"/>
            <a:ext cx="2011680" cy="1005840"/>
          </a:xfrm>
          <a:prstGeom prst="rect">
            <a:avLst/>
          </a:prstGeom>
          <a:noFill/>
          <a:ln/>
        </p:spPr>
        <p:txBody>
          <a:bodyPr wrap="square" lIns="0" tIns="0" rIns="0" bIns="0" rtlCol="0" anchor="t"/>
          <a:lstStyle/>
          <a:p>
            <a:pPr marL="0" indent="0">
              <a:buNone/>
            </a:pPr>
            <a:r>
              <a:rPr lang="en-US" sz="1400" dirty="0">
                <a:solidFill>
                  <a:srgbClr val="23272F"/>
                </a:solidFill>
                <a:latin typeface="Calibri" pitchFamily="34" charset="0"/>
                <a:ea typeface="Calibri" pitchFamily="34" charset="-122"/>
                <a:cs typeface="Calibri" pitchFamily="34" charset="-120"/>
              </a:rPr>
              <a:t>Needs evidence of full-stack work, and a way to filter projects to find it.</a:t>
            </a:r>
            <a:endParaRPr lang="en-US" sz="1400" dirty="0"/>
          </a:p>
        </p:txBody>
      </p:sp>
      <p:sp>
        <p:nvSpPr>
          <p:cNvPr id="15" name="Shape 11"/>
          <p:cNvSpPr/>
          <p:nvPr/>
        </p:nvSpPr>
        <p:spPr>
          <a:xfrm>
            <a:off x="6035040" y="1325880"/>
            <a:ext cx="2514600" cy="2971800"/>
          </a:xfrm>
          <a:prstGeom prst="roundRect">
            <a:avLst>
              <a:gd name="adj" fmla="val 3636"/>
            </a:avLst>
          </a:prstGeom>
          <a:solidFill>
            <a:srgbClr val="F3F4F6"/>
          </a:solidFill>
          <a:ln w="12700">
            <a:solidFill>
              <a:srgbClr val="F3F4F6"/>
            </a:solidFill>
            <a:prstDash val="solid"/>
          </a:ln>
        </p:spPr>
      </p:sp>
      <p:sp>
        <p:nvSpPr>
          <p:cNvPr id="16" name="Shape 12"/>
          <p:cNvSpPr/>
          <p:nvPr/>
        </p:nvSpPr>
        <p:spPr>
          <a:xfrm>
            <a:off x="6309360" y="1600200"/>
            <a:ext cx="640080" cy="640080"/>
          </a:xfrm>
          <a:prstGeom prst="ellipse">
            <a:avLst/>
          </a:prstGeom>
          <a:solidFill>
            <a:srgbClr val="B7770A"/>
          </a:solidFill>
          <a:ln w="12700">
            <a:solidFill>
              <a:srgbClr val="B7770A"/>
            </a:solidFill>
            <a:prstDash val="solid"/>
          </a:ln>
        </p:spPr>
      </p:sp>
      <p:pic>
        <p:nvPicPr>
          <p:cNvPr id="17" name="Image 2" descr="preencoded.png"/>
          <p:cNvPicPr>
            <a:picLocks noChangeAspect="1"/>
          </p:cNvPicPr>
          <p:nvPr/>
        </p:nvPicPr>
        <p:blipFill>
          <a:blip r:embed="rId5"/>
          <a:stretch>
            <a:fillRect/>
          </a:stretch>
        </p:blipFill>
        <p:spPr>
          <a:xfrm>
            <a:off x="6475781" y="1766621"/>
            <a:ext cx="307238" cy="307238"/>
          </a:xfrm>
          <a:prstGeom prst="rect">
            <a:avLst/>
          </a:prstGeom>
        </p:spPr>
      </p:pic>
      <p:sp>
        <p:nvSpPr>
          <p:cNvPr id="18" name="Text 13"/>
          <p:cNvSpPr txBox="1"/>
          <p:nvPr/>
        </p:nvSpPr>
        <p:spPr>
          <a:xfrm>
            <a:off x="6309360" y="2423160"/>
            <a:ext cx="2011680" cy="365760"/>
          </a:xfrm>
          <a:prstGeom prst="rect">
            <a:avLst/>
          </a:prstGeom>
          <a:noFill/>
          <a:ln/>
        </p:spPr>
        <p:txBody>
          <a:bodyPr wrap="square" lIns="0" tIns="0" rIns="0" bIns="0" rtlCol="0" anchor="ctr"/>
          <a:lstStyle/>
          <a:p>
            <a:pPr marL="0" indent="0">
              <a:buNone/>
            </a:pPr>
            <a:r>
              <a:rPr lang="en-US" sz="2000" b="1" dirty="0">
                <a:solidFill>
                  <a:srgbClr val="23272F"/>
                </a:solidFill>
                <a:latin typeface="Cambria" pitchFamily="34" charset="0"/>
                <a:ea typeface="Cambria" pitchFamily="34" charset="-122"/>
                <a:cs typeface="Cambria" pitchFamily="34" charset="-120"/>
              </a:rPr>
              <a:t>Priya</a:t>
            </a:r>
            <a:endParaRPr lang="en-US" sz="2000" dirty="0"/>
          </a:p>
        </p:txBody>
      </p:sp>
      <p:sp>
        <p:nvSpPr>
          <p:cNvPr id="19" name="Text 14"/>
          <p:cNvSpPr txBox="1"/>
          <p:nvPr/>
        </p:nvSpPr>
        <p:spPr>
          <a:xfrm>
            <a:off x="6309360" y="2788920"/>
            <a:ext cx="2011680" cy="274320"/>
          </a:xfrm>
          <a:prstGeom prst="rect">
            <a:avLst/>
          </a:prstGeom>
          <a:noFill/>
          <a:ln/>
        </p:spPr>
        <p:txBody>
          <a:bodyPr wrap="square" lIns="0" tIns="0" rIns="0" bIns="0" rtlCol="0" anchor="ctr"/>
          <a:lstStyle/>
          <a:p>
            <a:pPr marL="0" indent="0">
              <a:buNone/>
            </a:pPr>
            <a:r>
              <a:rPr lang="en-US" sz="1300" b="1" dirty="0">
                <a:solidFill>
                  <a:srgbClr val="8F5C00"/>
                </a:solidFill>
                <a:latin typeface="Calibri" pitchFamily="34" charset="0"/>
                <a:ea typeface="Calibri" pitchFamily="34" charset="-122"/>
                <a:cs typeface="Calibri" pitchFamily="34" charset="-120"/>
              </a:rPr>
              <a:t>IoT security researcher</a:t>
            </a:r>
            <a:endParaRPr lang="en-US" sz="1300" dirty="0"/>
          </a:p>
        </p:txBody>
      </p:sp>
      <p:sp>
        <p:nvSpPr>
          <p:cNvPr id="20" name="Text 15"/>
          <p:cNvSpPr txBox="1"/>
          <p:nvPr/>
        </p:nvSpPr>
        <p:spPr>
          <a:xfrm>
            <a:off x="6309360" y="3200400"/>
            <a:ext cx="2011680" cy="1005840"/>
          </a:xfrm>
          <a:prstGeom prst="rect">
            <a:avLst/>
          </a:prstGeom>
          <a:noFill/>
          <a:ln/>
        </p:spPr>
        <p:txBody>
          <a:bodyPr wrap="square" lIns="0" tIns="0" rIns="0" bIns="0" rtlCol="0" anchor="t"/>
          <a:lstStyle/>
          <a:p>
            <a:pPr marL="0" indent="0">
              <a:buNone/>
            </a:pPr>
            <a:r>
              <a:rPr lang="en-US" sz="1400" dirty="0">
                <a:solidFill>
                  <a:srgbClr val="23272F"/>
                </a:solidFill>
                <a:latin typeface="Calibri" pitchFamily="34" charset="0"/>
                <a:ea typeface="Calibri" pitchFamily="34" charset="-122"/>
                <a:cs typeface="Calibri" pitchFamily="34" charset="-120"/>
              </a:rPr>
              <a:t>Needs publications with venue and DOI, full keyboard access, and reduced motion.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046720" cy="685800"/>
          </a:xfrm>
          <a:prstGeom prst="rect">
            <a:avLst/>
          </a:prstGeom>
          <a:noFill/>
          <a:ln/>
        </p:spPr>
        <p:txBody>
          <a:bodyPr wrap="square" lIns="0" tIns="0" rIns="0" bIns="0" rtlCol="0" anchor="ctr"/>
          <a:lstStyle/>
          <a:p>
            <a:pPr marL="0" indent="0">
              <a:buNone/>
            </a:pPr>
            <a:r>
              <a:rPr lang="en-US" sz="3400" b="1" dirty="0">
                <a:solidFill>
                  <a:srgbClr val="23272F"/>
                </a:solidFill>
                <a:latin typeface="Cambria" pitchFamily="34" charset="0"/>
                <a:ea typeface="Cambria" pitchFamily="34" charset="-122"/>
                <a:cs typeface="Cambria" pitchFamily="34" charset="-120"/>
              </a:rPr>
              <a:t>Design process</a:t>
            </a:r>
            <a:endParaRPr lang="en-US" sz="3400" dirty="0"/>
          </a:p>
        </p:txBody>
      </p:sp>
      <p:pic>
        <p:nvPicPr>
          <p:cNvPr id="3" name="Image 0" descr="wire.png"/>
          <p:cNvPicPr>
            <a:picLocks noChangeAspect="1"/>
          </p:cNvPicPr>
          <p:nvPr/>
        </p:nvPicPr>
        <p:blipFill>
          <a:blip r:embed="rId3"/>
          <a:stretch>
            <a:fillRect/>
          </a:stretch>
        </p:blipFill>
        <p:spPr>
          <a:xfrm>
            <a:off x="548640" y="1463040"/>
            <a:ext cx="2432304" cy="1520190"/>
          </a:xfrm>
          <a:prstGeom prst="rect">
            <a:avLst/>
          </a:prstGeom>
          <a:effectLst>
            <a:outerShdw blurRad="101600" dist="38100" dir="5400000" algn="bl" rotWithShape="0">
              <a:srgbClr val="000000">
                <a:alpha val="18000"/>
              </a:srgbClr>
            </a:outerShdw>
          </a:effectLst>
        </p:spPr>
      </p:pic>
      <p:sp>
        <p:nvSpPr>
          <p:cNvPr id="4" name="Text 1"/>
          <p:cNvSpPr txBox="1"/>
          <p:nvPr/>
        </p:nvSpPr>
        <p:spPr>
          <a:xfrm>
            <a:off x="548640" y="3200400"/>
            <a:ext cx="2432304" cy="365760"/>
          </a:xfrm>
          <a:prstGeom prst="rect">
            <a:avLst/>
          </a:prstGeom>
          <a:noFill/>
          <a:ln/>
        </p:spPr>
        <p:txBody>
          <a:bodyPr wrap="square" lIns="0" tIns="0" rIns="0" bIns="0" rtlCol="0" anchor="ctr"/>
          <a:lstStyle/>
          <a:p>
            <a:pPr marL="0" indent="0">
              <a:buNone/>
            </a:pPr>
            <a:r>
              <a:rPr lang="en-US" sz="1700" b="1" dirty="0">
                <a:solidFill>
                  <a:srgbClr val="23272F"/>
                </a:solidFill>
                <a:latin typeface="Cambria" pitchFamily="34" charset="0"/>
                <a:ea typeface="Cambria" pitchFamily="34" charset="-122"/>
                <a:cs typeface="Cambria" pitchFamily="34" charset="-120"/>
              </a:rPr>
              <a:t>1  Wireframe</a:t>
            </a:r>
            <a:endParaRPr lang="en-US" sz="1700" dirty="0"/>
          </a:p>
        </p:txBody>
      </p:sp>
      <p:sp>
        <p:nvSpPr>
          <p:cNvPr id="5" name="Text 2"/>
          <p:cNvSpPr txBox="1"/>
          <p:nvPr/>
        </p:nvSpPr>
        <p:spPr>
          <a:xfrm>
            <a:off x="548640" y="3566160"/>
            <a:ext cx="2432304" cy="274320"/>
          </a:xfrm>
          <a:prstGeom prst="rect">
            <a:avLst/>
          </a:prstGeom>
          <a:noFill/>
          <a:ln/>
        </p:spPr>
        <p:txBody>
          <a:bodyPr wrap="square" lIns="0" tIns="0" rIns="0" bIns="0" rtlCol="0" anchor="ctr"/>
          <a:lstStyle/>
          <a:p>
            <a:pPr marL="0" indent="0">
              <a:buNone/>
            </a:pPr>
            <a:r>
              <a:rPr lang="en-US" sz="1300" dirty="0">
                <a:solidFill>
                  <a:srgbClr val="5B6270"/>
                </a:solidFill>
                <a:latin typeface="Calibri" pitchFamily="34" charset="0"/>
                <a:ea typeface="Calibri" pitchFamily="34" charset="-122"/>
                <a:cs typeface="Calibri" pitchFamily="34" charset="-120"/>
              </a:rPr>
              <a:t>Structure first</a:t>
            </a:r>
            <a:endParaRPr lang="en-US" sz="1300" dirty="0"/>
          </a:p>
        </p:txBody>
      </p:sp>
      <p:sp>
        <p:nvSpPr>
          <p:cNvPr id="6" name="Shape 3"/>
          <p:cNvSpPr/>
          <p:nvPr/>
        </p:nvSpPr>
        <p:spPr>
          <a:xfrm>
            <a:off x="3054096" y="2084832"/>
            <a:ext cx="228600" cy="274320"/>
          </a:xfrm>
          <a:prstGeom prst="rightArrow">
            <a:avLst/>
          </a:prstGeom>
          <a:solidFill>
            <a:srgbClr val="B7770A"/>
          </a:solidFill>
          <a:ln w="12700">
            <a:solidFill>
              <a:srgbClr val="B7770A"/>
            </a:solidFill>
            <a:prstDash val="solid"/>
          </a:ln>
        </p:spPr>
      </p:sp>
      <p:pic>
        <p:nvPicPr>
          <p:cNvPr id="7" name="Image 1" descr="mock.png"/>
          <p:cNvPicPr>
            <a:picLocks noChangeAspect="1"/>
          </p:cNvPicPr>
          <p:nvPr/>
        </p:nvPicPr>
        <p:blipFill>
          <a:blip r:embed="rId4"/>
          <a:stretch>
            <a:fillRect/>
          </a:stretch>
        </p:blipFill>
        <p:spPr>
          <a:xfrm>
            <a:off x="3355848" y="1463040"/>
            <a:ext cx="2432304" cy="1520190"/>
          </a:xfrm>
          <a:prstGeom prst="rect">
            <a:avLst/>
          </a:prstGeom>
          <a:effectLst>
            <a:outerShdw blurRad="101600" dist="38100" dir="5400000" algn="bl" rotWithShape="0">
              <a:srgbClr val="000000">
                <a:alpha val="18000"/>
              </a:srgbClr>
            </a:outerShdw>
          </a:effectLst>
        </p:spPr>
      </p:pic>
      <p:sp>
        <p:nvSpPr>
          <p:cNvPr id="8" name="Text 4"/>
          <p:cNvSpPr txBox="1"/>
          <p:nvPr/>
        </p:nvSpPr>
        <p:spPr>
          <a:xfrm>
            <a:off x="3355848" y="3200400"/>
            <a:ext cx="2432304" cy="365760"/>
          </a:xfrm>
          <a:prstGeom prst="rect">
            <a:avLst/>
          </a:prstGeom>
          <a:noFill/>
          <a:ln/>
        </p:spPr>
        <p:txBody>
          <a:bodyPr wrap="square" lIns="0" tIns="0" rIns="0" bIns="0" rtlCol="0" anchor="ctr"/>
          <a:lstStyle/>
          <a:p>
            <a:pPr marL="0" indent="0">
              <a:buNone/>
            </a:pPr>
            <a:r>
              <a:rPr lang="en-US" sz="1700" b="1" dirty="0">
                <a:solidFill>
                  <a:srgbClr val="23272F"/>
                </a:solidFill>
                <a:latin typeface="Cambria" pitchFamily="34" charset="0"/>
                <a:ea typeface="Cambria" pitchFamily="34" charset="-122"/>
                <a:cs typeface="Cambria" pitchFamily="34" charset="-120"/>
              </a:rPr>
              <a:t>2  Figma mockup</a:t>
            </a:r>
            <a:endParaRPr lang="en-US" sz="1700" dirty="0"/>
          </a:p>
        </p:txBody>
      </p:sp>
      <p:sp>
        <p:nvSpPr>
          <p:cNvPr id="9" name="Text 5"/>
          <p:cNvSpPr txBox="1"/>
          <p:nvPr/>
        </p:nvSpPr>
        <p:spPr>
          <a:xfrm>
            <a:off x="3355848" y="3566160"/>
            <a:ext cx="2432304" cy="274320"/>
          </a:xfrm>
          <a:prstGeom prst="rect">
            <a:avLst/>
          </a:prstGeom>
          <a:noFill/>
          <a:ln/>
        </p:spPr>
        <p:txBody>
          <a:bodyPr wrap="square" lIns="0" tIns="0" rIns="0" bIns="0" rtlCol="0" anchor="ctr"/>
          <a:lstStyle/>
          <a:p>
            <a:pPr marL="0" indent="0">
              <a:buNone/>
            </a:pPr>
            <a:r>
              <a:rPr lang="en-US" sz="1300" dirty="0">
                <a:solidFill>
                  <a:srgbClr val="5B6270"/>
                </a:solidFill>
                <a:latin typeface="Calibri" pitchFamily="34" charset="0"/>
                <a:ea typeface="Calibri" pitchFamily="34" charset="-122"/>
                <a:cs typeface="Calibri" pitchFamily="34" charset="-120"/>
              </a:rPr>
              <a:t>Look and feel</a:t>
            </a:r>
            <a:endParaRPr lang="en-US" sz="1300" dirty="0"/>
          </a:p>
        </p:txBody>
      </p:sp>
      <p:sp>
        <p:nvSpPr>
          <p:cNvPr id="10" name="Shape 6"/>
          <p:cNvSpPr/>
          <p:nvPr/>
        </p:nvSpPr>
        <p:spPr>
          <a:xfrm>
            <a:off x="5861304" y="2084832"/>
            <a:ext cx="228600" cy="274320"/>
          </a:xfrm>
          <a:prstGeom prst="rightArrow">
            <a:avLst/>
          </a:prstGeom>
          <a:solidFill>
            <a:srgbClr val="B7770A"/>
          </a:solidFill>
          <a:ln w="12700">
            <a:solidFill>
              <a:srgbClr val="B7770A"/>
            </a:solidFill>
            <a:prstDash val="solid"/>
          </a:ln>
        </p:spPr>
      </p:sp>
      <p:pic>
        <p:nvPicPr>
          <p:cNvPr id="11" name="Image 2" descr="built.png"/>
          <p:cNvPicPr>
            <a:picLocks noChangeAspect="1"/>
          </p:cNvPicPr>
          <p:nvPr/>
        </p:nvPicPr>
        <p:blipFill>
          <a:blip r:embed="rId5"/>
          <a:stretch>
            <a:fillRect/>
          </a:stretch>
        </p:blipFill>
        <p:spPr>
          <a:xfrm>
            <a:off x="6163056" y="1463040"/>
            <a:ext cx="2432304" cy="1520190"/>
          </a:xfrm>
          <a:prstGeom prst="rect">
            <a:avLst/>
          </a:prstGeom>
          <a:effectLst>
            <a:outerShdw blurRad="101600" dist="38100" dir="5400000" algn="bl" rotWithShape="0">
              <a:srgbClr val="000000">
                <a:alpha val="18000"/>
              </a:srgbClr>
            </a:outerShdw>
          </a:effectLst>
        </p:spPr>
      </p:pic>
      <p:sp>
        <p:nvSpPr>
          <p:cNvPr id="12" name="Text 7"/>
          <p:cNvSpPr txBox="1"/>
          <p:nvPr/>
        </p:nvSpPr>
        <p:spPr>
          <a:xfrm>
            <a:off x="6163056" y="3200400"/>
            <a:ext cx="2432304" cy="365760"/>
          </a:xfrm>
          <a:prstGeom prst="rect">
            <a:avLst/>
          </a:prstGeom>
          <a:noFill/>
          <a:ln/>
        </p:spPr>
        <p:txBody>
          <a:bodyPr wrap="square" lIns="0" tIns="0" rIns="0" bIns="0" rtlCol="0" anchor="ctr"/>
          <a:lstStyle/>
          <a:p>
            <a:pPr marL="0" indent="0">
              <a:buNone/>
            </a:pPr>
            <a:r>
              <a:rPr lang="en-US" sz="1700" b="1" dirty="0">
                <a:solidFill>
                  <a:srgbClr val="23272F"/>
                </a:solidFill>
                <a:latin typeface="Cambria" pitchFamily="34" charset="0"/>
                <a:ea typeface="Cambria" pitchFamily="34" charset="-122"/>
                <a:cs typeface="Cambria" pitchFamily="34" charset="-120"/>
              </a:rPr>
              <a:t>3  Built page</a:t>
            </a:r>
            <a:endParaRPr lang="en-US" sz="1700" dirty="0"/>
          </a:p>
        </p:txBody>
      </p:sp>
      <p:sp>
        <p:nvSpPr>
          <p:cNvPr id="13" name="Text 8"/>
          <p:cNvSpPr txBox="1"/>
          <p:nvPr/>
        </p:nvSpPr>
        <p:spPr>
          <a:xfrm>
            <a:off x="6163056" y="3566160"/>
            <a:ext cx="2432304" cy="274320"/>
          </a:xfrm>
          <a:prstGeom prst="rect">
            <a:avLst/>
          </a:prstGeom>
          <a:noFill/>
          <a:ln/>
        </p:spPr>
        <p:txBody>
          <a:bodyPr wrap="square" lIns="0" tIns="0" rIns="0" bIns="0" rtlCol="0" anchor="ctr"/>
          <a:lstStyle/>
          <a:p>
            <a:pPr marL="0" indent="0">
              <a:buNone/>
            </a:pPr>
            <a:r>
              <a:rPr lang="en-US" sz="1300" dirty="0">
                <a:solidFill>
                  <a:srgbClr val="5B6270"/>
                </a:solidFill>
                <a:latin typeface="Calibri" pitchFamily="34" charset="0"/>
                <a:ea typeface="Calibri" pitchFamily="34" charset="-122"/>
                <a:cs typeface="Calibri" pitchFamily="34" charset="-120"/>
              </a:rPr>
              <a:t>HTML, CSS, and JavaScript</a:t>
            </a:r>
            <a:endParaRPr lang="en-US" sz="1300" dirty="0"/>
          </a:p>
        </p:txBody>
      </p:sp>
      <p:sp>
        <p:nvSpPr>
          <p:cNvPr id="14" name="Text 9"/>
          <p:cNvSpPr txBox="1"/>
          <p:nvPr/>
        </p:nvSpPr>
        <p:spPr>
          <a:xfrm>
            <a:off x="548640" y="4206240"/>
            <a:ext cx="8046720" cy="274320"/>
          </a:xfrm>
          <a:prstGeom prst="rect">
            <a:avLst/>
          </a:prstGeom>
          <a:noFill/>
          <a:ln/>
        </p:spPr>
        <p:txBody>
          <a:bodyPr wrap="square" lIns="0" tIns="0" rIns="0" bIns="0" rtlCol="0" anchor="ctr"/>
          <a:lstStyle/>
          <a:p>
            <a:pPr marL="0" indent="0">
              <a:buNone/>
            </a:pPr>
            <a:r>
              <a:rPr lang="en-US" sz="1200" i="1" dirty="0">
                <a:solidFill>
                  <a:srgbClr val="5B6270"/>
                </a:solidFill>
                <a:latin typeface="Calibri" pitchFamily="34" charset="0"/>
                <a:ea typeface="Calibri" pitchFamily="34" charset="-122"/>
                <a:cs typeface="Calibri" pitchFamily="34" charset="-120"/>
              </a:rPr>
              <a:t>The Home page at each stage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046720" cy="685800"/>
          </a:xfrm>
          <a:prstGeom prst="rect">
            <a:avLst/>
          </a:prstGeom>
          <a:noFill/>
          <a:ln/>
        </p:spPr>
        <p:txBody>
          <a:bodyPr wrap="square" lIns="0" tIns="0" rIns="0" bIns="0" rtlCol="0" anchor="ctr"/>
          <a:lstStyle/>
          <a:p>
            <a:pPr marL="0" indent="0">
              <a:buNone/>
            </a:pPr>
            <a:r>
              <a:rPr lang="en-US" sz="3400" b="1" dirty="0">
                <a:solidFill>
                  <a:srgbClr val="23272F"/>
                </a:solidFill>
                <a:latin typeface="Cambria" pitchFamily="34" charset="0"/>
                <a:ea typeface="Cambria" pitchFamily="34" charset="-122"/>
                <a:cs typeface="Cambria" pitchFamily="34" charset="-120"/>
              </a:rPr>
              <a:t>How it's built</a:t>
            </a:r>
            <a:endParaRPr lang="en-US" sz="3400" dirty="0"/>
          </a:p>
        </p:txBody>
      </p:sp>
      <p:sp>
        <p:nvSpPr>
          <p:cNvPr id="3" name="Text 1"/>
          <p:cNvSpPr txBox="1"/>
          <p:nvPr/>
        </p:nvSpPr>
        <p:spPr>
          <a:xfrm>
            <a:off x="548640" y="1234440"/>
            <a:ext cx="3840480" cy="365760"/>
          </a:xfrm>
          <a:prstGeom prst="rect">
            <a:avLst/>
          </a:prstGeom>
          <a:noFill/>
          <a:ln/>
        </p:spPr>
        <p:txBody>
          <a:bodyPr wrap="square" lIns="0" tIns="0" rIns="0" bIns="0" rtlCol="0" anchor="ctr"/>
          <a:lstStyle/>
          <a:p>
            <a:pPr marL="0" indent="0">
              <a:buNone/>
            </a:pPr>
            <a:r>
              <a:rPr lang="en-US" sz="1800" b="1" dirty="0">
                <a:solidFill>
                  <a:srgbClr val="23272F"/>
                </a:solidFill>
                <a:latin typeface="Cambria" pitchFamily="34" charset="0"/>
                <a:ea typeface="Cambria" pitchFamily="34" charset="-122"/>
                <a:cs typeface="Cambria" pitchFamily="34" charset="-120"/>
              </a:rPr>
              <a:t>The stack</a:t>
            </a:r>
            <a:endParaRPr lang="en-US" sz="1800" dirty="0"/>
          </a:p>
        </p:txBody>
      </p:sp>
      <p:sp>
        <p:nvSpPr>
          <p:cNvPr id="4" name="Shape 2"/>
          <p:cNvSpPr/>
          <p:nvPr/>
        </p:nvSpPr>
        <p:spPr>
          <a:xfrm>
            <a:off x="548640" y="1737360"/>
            <a:ext cx="365760" cy="365760"/>
          </a:xfrm>
          <a:prstGeom prst="ellipse">
            <a:avLst/>
          </a:prstGeom>
          <a:solidFill>
            <a:srgbClr val="B7770A"/>
          </a:solidFill>
          <a:ln w="12700">
            <a:solidFill>
              <a:srgbClr val="B7770A"/>
            </a:solidFill>
            <a:prstDash val="solid"/>
          </a:ln>
        </p:spPr>
      </p:sp>
      <p:pic>
        <p:nvPicPr>
          <p:cNvPr id="5" name="Image 0" descr="preencoded.png"/>
          <p:cNvPicPr>
            <a:picLocks noChangeAspect="1"/>
          </p:cNvPicPr>
          <p:nvPr/>
        </p:nvPicPr>
        <p:blipFill>
          <a:blip r:embed="rId3"/>
          <a:stretch>
            <a:fillRect/>
          </a:stretch>
        </p:blipFill>
        <p:spPr>
          <a:xfrm>
            <a:off x="643738" y="1832458"/>
            <a:ext cx="175565" cy="175565"/>
          </a:xfrm>
          <a:prstGeom prst="rect">
            <a:avLst/>
          </a:prstGeom>
        </p:spPr>
      </p:pic>
      <p:sp>
        <p:nvSpPr>
          <p:cNvPr id="6" name="Text 3"/>
          <p:cNvSpPr txBox="1"/>
          <p:nvPr/>
        </p:nvSpPr>
        <p:spPr>
          <a:xfrm>
            <a:off x="1051560" y="1719072"/>
            <a:ext cx="3383280" cy="402336"/>
          </a:xfrm>
          <a:prstGeom prst="rect">
            <a:avLst/>
          </a:prstGeom>
          <a:noFill/>
          <a:ln/>
        </p:spPr>
        <p:txBody>
          <a:bodyPr wrap="square" lIns="0" tIns="0" rIns="0" bIns="0" rtlCol="0" anchor="ctr"/>
          <a:lstStyle/>
          <a:p>
            <a:pPr marL="0" indent="0">
              <a:buNone/>
            </a:pPr>
            <a:r>
              <a:rPr lang="en-US" sz="1400" dirty="0">
                <a:solidFill>
                  <a:srgbClr val="23272F"/>
                </a:solidFill>
                <a:latin typeface="Calibri" pitchFamily="34" charset="0"/>
                <a:ea typeface="Calibri" pitchFamily="34" charset="-122"/>
                <a:cs typeface="Calibri" pitchFamily="34" charset="-120"/>
              </a:rPr>
              <a:t>Vanilla HTML5, CSS3, and ES6 modules, no frameworks</a:t>
            </a:r>
            <a:endParaRPr lang="en-US" sz="1400" dirty="0"/>
          </a:p>
        </p:txBody>
      </p:sp>
      <p:sp>
        <p:nvSpPr>
          <p:cNvPr id="7" name="Shape 4"/>
          <p:cNvSpPr/>
          <p:nvPr/>
        </p:nvSpPr>
        <p:spPr>
          <a:xfrm>
            <a:off x="548640" y="2267712"/>
            <a:ext cx="365760" cy="365760"/>
          </a:xfrm>
          <a:prstGeom prst="ellipse">
            <a:avLst/>
          </a:prstGeom>
          <a:solidFill>
            <a:srgbClr val="B7770A"/>
          </a:solidFill>
          <a:ln w="12700">
            <a:solidFill>
              <a:srgbClr val="B7770A"/>
            </a:solidFill>
            <a:prstDash val="solid"/>
          </a:ln>
        </p:spPr>
      </p:sp>
      <p:pic>
        <p:nvPicPr>
          <p:cNvPr id="8" name="Image 1" descr="preencoded.png"/>
          <p:cNvPicPr>
            <a:picLocks noChangeAspect="1"/>
          </p:cNvPicPr>
          <p:nvPr/>
        </p:nvPicPr>
        <p:blipFill>
          <a:blip r:embed="rId4"/>
          <a:stretch>
            <a:fillRect/>
          </a:stretch>
        </p:blipFill>
        <p:spPr>
          <a:xfrm>
            <a:off x="643738" y="2362810"/>
            <a:ext cx="175565" cy="175565"/>
          </a:xfrm>
          <a:prstGeom prst="rect">
            <a:avLst/>
          </a:prstGeom>
        </p:spPr>
      </p:pic>
      <p:sp>
        <p:nvSpPr>
          <p:cNvPr id="9" name="Text 5"/>
          <p:cNvSpPr txBox="1"/>
          <p:nvPr/>
        </p:nvSpPr>
        <p:spPr>
          <a:xfrm>
            <a:off x="1051560" y="2249424"/>
            <a:ext cx="3383280" cy="402336"/>
          </a:xfrm>
          <a:prstGeom prst="rect">
            <a:avLst/>
          </a:prstGeom>
          <a:noFill/>
          <a:ln/>
        </p:spPr>
        <p:txBody>
          <a:bodyPr wrap="square" lIns="0" tIns="0" rIns="0" bIns="0" rtlCol="0" anchor="ctr"/>
          <a:lstStyle/>
          <a:p>
            <a:pPr marL="0" indent="0">
              <a:buNone/>
            </a:pPr>
            <a:r>
              <a:rPr lang="en-US" sz="1400" dirty="0">
                <a:solidFill>
                  <a:srgbClr val="23272F"/>
                </a:solidFill>
                <a:latin typeface="Calibri" pitchFamily="34" charset="0"/>
                <a:ea typeface="Calibri" pitchFamily="34" charset="-122"/>
                <a:cs typeface="Calibri" pitchFamily="34" charset="-120"/>
              </a:rPr>
              <a:t>Flexbox and CSS Grid layouts</a:t>
            </a:r>
            <a:endParaRPr lang="en-US" sz="1400" dirty="0"/>
          </a:p>
        </p:txBody>
      </p:sp>
      <p:sp>
        <p:nvSpPr>
          <p:cNvPr id="10" name="Shape 6"/>
          <p:cNvSpPr/>
          <p:nvPr/>
        </p:nvSpPr>
        <p:spPr>
          <a:xfrm>
            <a:off x="548640" y="2798064"/>
            <a:ext cx="365760" cy="365760"/>
          </a:xfrm>
          <a:prstGeom prst="ellipse">
            <a:avLst/>
          </a:prstGeom>
          <a:solidFill>
            <a:srgbClr val="B7770A"/>
          </a:solidFill>
          <a:ln w="12700">
            <a:solidFill>
              <a:srgbClr val="B7770A"/>
            </a:solidFill>
            <a:prstDash val="solid"/>
          </a:ln>
        </p:spPr>
      </p:sp>
      <p:pic>
        <p:nvPicPr>
          <p:cNvPr id="11" name="Image 2" descr="preencoded.png"/>
          <p:cNvPicPr>
            <a:picLocks noChangeAspect="1"/>
          </p:cNvPicPr>
          <p:nvPr/>
        </p:nvPicPr>
        <p:blipFill>
          <a:blip r:embed="rId5"/>
          <a:stretch>
            <a:fillRect/>
          </a:stretch>
        </p:blipFill>
        <p:spPr>
          <a:xfrm>
            <a:off x="643738" y="2893162"/>
            <a:ext cx="175565" cy="175565"/>
          </a:xfrm>
          <a:prstGeom prst="rect">
            <a:avLst/>
          </a:prstGeom>
        </p:spPr>
      </p:pic>
      <p:sp>
        <p:nvSpPr>
          <p:cNvPr id="12" name="Text 7"/>
          <p:cNvSpPr txBox="1"/>
          <p:nvPr/>
        </p:nvSpPr>
        <p:spPr>
          <a:xfrm>
            <a:off x="1051560" y="2779776"/>
            <a:ext cx="3383280" cy="402336"/>
          </a:xfrm>
          <a:prstGeom prst="rect">
            <a:avLst/>
          </a:prstGeom>
          <a:noFill/>
          <a:ln/>
        </p:spPr>
        <p:txBody>
          <a:bodyPr wrap="square" lIns="0" tIns="0" rIns="0" bIns="0" rtlCol="0" anchor="ctr"/>
          <a:lstStyle/>
          <a:p>
            <a:pPr marL="0" indent="0">
              <a:buNone/>
            </a:pPr>
            <a:r>
              <a:rPr lang="en-US" sz="1400" dirty="0">
                <a:solidFill>
                  <a:srgbClr val="23272F"/>
                </a:solidFill>
                <a:latin typeface="Calibri" pitchFamily="34" charset="0"/>
                <a:ea typeface="Calibri" pitchFamily="34" charset="-122"/>
                <a:cs typeface="Calibri" pitchFamily="34" charset="-120"/>
              </a:rPr>
              <a:t>ESLint, Prettier, and W3C validated</a:t>
            </a:r>
            <a:endParaRPr lang="en-US" sz="1400" dirty="0"/>
          </a:p>
        </p:txBody>
      </p:sp>
      <p:sp>
        <p:nvSpPr>
          <p:cNvPr id="13" name="Shape 8"/>
          <p:cNvSpPr/>
          <p:nvPr/>
        </p:nvSpPr>
        <p:spPr>
          <a:xfrm>
            <a:off x="548640" y="3328416"/>
            <a:ext cx="365760" cy="365760"/>
          </a:xfrm>
          <a:prstGeom prst="ellipse">
            <a:avLst/>
          </a:prstGeom>
          <a:solidFill>
            <a:srgbClr val="B7770A"/>
          </a:solidFill>
          <a:ln w="12700">
            <a:solidFill>
              <a:srgbClr val="B7770A"/>
            </a:solidFill>
            <a:prstDash val="solid"/>
          </a:ln>
        </p:spPr>
      </p:sp>
      <p:pic>
        <p:nvPicPr>
          <p:cNvPr id="14" name="Image 3" descr="preencoded.png"/>
          <p:cNvPicPr>
            <a:picLocks noChangeAspect="1"/>
          </p:cNvPicPr>
          <p:nvPr/>
        </p:nvPicPr>
        <p:blipFill>
          <a:blip r:embed="rId6"/>
          <a:stretch>
            <a:fillRect/>
          </a:stretch>
        </p:blipFill>
        <p:spPr>
          <a:xfrm>
            <a:off x="643738" y="3423514"/>
            <a:ext cx="175565" cy="175565"/>
          </a:xfrm>
          <a:prstGeom prst="rect">
            <a:avLst/>
          </a:prstGeom>
        </p:spPr>
      </p:pic>
      <p:sp>
        <p:nvSpPr>
          <p:cNvPr id="15" name="Text 9"/>
          <p:cNvSpPr txBox="1"/>
          <p:nvPr/>
        </p:nvSpPr>
        <p:spPr>
          <a:xfrm>
            <a:off x="1051560" y="3310128"/>
            <a:ext cx="3383280" cy="402336"/>
          </a:xfrm>
          <a:prstGeom prst="rect">
            <a:avLst/>
          </a:prstGeom>
          <a:noFill/>
          <a:ln/>
        </p:spPr>
        <p:txBody>
          <a:bodyPr wrap="square" lIns="0" tIns="0" rIns="0" bIns="0" rtlCol="0" anchor="ctr"/>
          <a:lstStyle/>
          <a:p>
            <a:pPr marL="0" indent="0">
              <a:buNone/>
            </a:pPr>
            <a:r>
              <a:rPr lang="en-US" sz="1400" dirty="0">
                <a:solidFill>
                  <a:srgbClr val="23272F"/>
                </a:solidFill>
                <a:latin typeface="Calibri" pitchFamily="34" charset="0"/>
                <a:ea typeface="Calibri" pitchFamily="34" charset="-122"/>
                <a:cs typeface="Calibri" pitchFamily="34" charset="-120"/>
              </a:rPr>
              <a:t>Semantic HTML, keyboard access, reduced motion</a:t>
            </a:r>
            <a:endParaRPr lang="en-US" sz="1400" dirty="0"/>
          </a:p>
        </p:txBody>
      </p:sp>
      <p:sp>
        <p:nvSpPr>
          <p:cNvPr id="16" name="Shape 10"/>
          <p:cNvSpPr/>
          <p:nvPr/>
        </p:nvSpPr>
        <p:spPr>
          <a:xfrm>
            <a:off x="548640" y="3858768"/>
            <a:ext cx="365760" cy="365760"/>
          </a:xfrm>
          <a:prstGeom prst="ellipse">
            <a:avLst/>
          </a:prstGeom>
          <a:solidFill>
            <a:srgbClr val="B7770A"/>
          </a:solidFill>
          <a:ln w="12700">
            <a:solidFill>
              <a:srgbClr val="B7770A"/>
            </a:solidFill>
            <a:prstDash val="solid"/>
          </a:ln>
        </p:spPr>
      </p:sp>
      <p:pic>
        <p:nvPicPr>
          <p:cNvPr id="17" name="Image 4" descr="preencoded.png"/>
          <p:cNvPicPr>
            <a:picLocks noChangeAspect="1"/>
          </p:cNvPicPr>
          <p:nvPr/>
        </p:nvPicPr>
        <p:blipFill>
          <a:blip r:embed="rId7"/>
          <a:stretch>
            <a:fillRect/>
          </a:stretch>
        </p:blipFill>
        <p:spPr>
          <a:xfrm>
            <a:off x="643738" y="3953866"/>
            <a:ext cx="175565" cy="175565"/>
          </a:xfrm>
          <a:prstGeom prst="rect">
            <a:avLst/>
          </a:prstGeom>
        </p:spPr>
      </p:pic>
      <p:sp>
        <p:nvSpPr>
          <p:cNvPr id="18" name="Text 11"/>
          <p:cNvSpPr txBox="1"/>
          <p:nvPr/>
        </p:nvSpPr>
        <p:spPr>
          <a:xfrm>
            <a:off x="1051560" y="3840480"/>
            <a:ext cx="3383280" cy="402336"/>
          </a:xfrm>
          <a:prstGeom prst="rect">
            <a:avLst/>
          </a:prstGeom>
          <a:noFill/>
          <a:ln/>
        </p:spPr>
        <p:txBody>
          <a:bodyPr wrap="square" lIns="0" tIns="0" rIns="0" bIns="0" rtlCol="0" anchor="ctr"/>
          <a:lstStyle/>
          <a:p>
            <a:pPr marL="0" indent="0">
              <a:buNone/>
            </a:pPr>
            <a:r>
              <a:rPr lang="en-US" sz="1400" dirty="0">
                <a:solidFill>
                  <a:srgbClr val="23272F"/>
                </a:solidFill>
                <a:latin typeface="Calibri" pitchFamily="34" charset="0"/>
                <a:ea typeface="Calibri" pitchFamily="34" charset="-122"/>
                <a:cs typeface="Calibri" pitchFamily="34" charset="-120"/>
              </a:rPr>
              <a:t>Deployed on GitHub Pages</a:t>
            </a:r>
            <a:endParaRPr lang="en-US" sz="1400" dirty="0"/>
          </a:p>
        </p:txBody>
      </p:sp>
      <p:sp>
        <p:nvSpPr>
          <p:cNvPr id="19" name="Shape 12"/>
          <p:cNvSpPr/>
          <p:nvPr/>
        </p:nvSpPr>
        <p:spPr>
          <a:xfrm>
            <a:off x="4754880" y="1234440"/>
            <a:ext cx="3840480" cy="3063240"/>
          </a:xfrm>
          <a:prstGeom prst="roundRect">
            <a:avLst>
              <a:gd name="adj" fmla="val 2985"/>
            </a:avLst>
          </a:prstGeom>
          <a:solidFill>
            <a:srgbClr val="F3F4F6"/>
          </a:solidFill>
          <a:ln w="12700">
            <a:solidFill>
              <a:srgbClr val="F3F4F6"/>
            </a:solidFill>
            <a:prstDash val="solid"/>
          </a:ln>
        </p:spPr>
      </p:sp>
      <p:sp>
        <p:nvSpPr>
          <p:cNvPr id="20" name="Text 13"/>
          <p:cNvSpPr txBox="1"/>
          <p:nvPr/>
        </p:nvSpPr>
        <p:spPr>
          <a:xfrm>
            <a:off x="5029200" y="1417320"/>
            <a:ext cx="3383280" cy="320040"/>
          </a:xfrm>
          <a:prstGeom prst="rect">
            <a:avLst/>
          </a:prstGeom>
          <a:noFill/>
          <a:ln/>
        </p:spPr>
        <p:txBody>
          <a:bodyPr wrap="square" lIns="0" tIns="0" rIns="0" bIns="0" rtlCol="0" anchor="ctr"/>
          <a:lstStyle/>
          <a:p>
            <a:pPr marL="0" indent="0">
              <a:buNone/>
            </a:pPr>
            <a:r>
              <a:rPr lang="en-US" sz="1600" b="1" dirty="0">
                <a:solidFill>
                  <a:srgbClr val="23272F"/>
                </a:solidFill>
                <a:latin typeface="Cambria" pitchFamily="34" charset="0"/>
                <a:ea typeface="Cambria" pitchFamily="34" charset="-122"/>
                <a:cs typeface="Cambria" pitchFamily="34" charset="-120"/>
              </a:rPr>
              <a:t>Under the hood: the simulation</a:t>
            </a:r>
            <a:endParaRPr lang="en-US" sz="1600" dirty="0"/>
          </a:p>
        </p:txBody>
      </p:sp>
      <p:sp>
        <p:nvSpPr>
          <p:cNvPr id="21" name="Text 14"/>
          <p:cNvSpPr txBox="1"/>
          <p:nvPr/>
        </p:nvSpPr>
        <p:spPr>
          <a:xfrm>
            <a:off x="5029200" y="1783080"/>
            <a:ext cx="3383280" cy="685800"/>
          </a:xfrm>
          <a:prstGeom prst="rect">
            <a:avLst/>
          </a:prstGeom>
          <a:noFill/>
          <a:ln/>
        </p:spPr>
        <p:txBody>
          <a:bodyPr wrap="square" lIns="0" tIns="0" rIns="0" bIns="0" rtlCol="0" anchor="ctr"/>
          <a:lstStyle/>
          <a:p>
            <a:pPr marL="0" indent="0">
              <a:buNone/>
            </a:pPr>
            <a:r>
              <a:rPr lang="en-US" sz="4400" b="1" dirty="0">
                <a:solidFill>
                  <a:srgbClr val="8F5C00"/>
                </a:solidFill>
                <a:latin typeface="Cambria" pitchFamily="34" charset="0"/>
                <a:ea typeface="Cambria" pitchFamily="34" charset="-122"/>
                <a:cs typeface="Cambria" pitchFamily="34" charset="-120"/>
              </a:rPr>
              <a:t>440+</a:t>
            </a:r>
            <a:endParaRPr lang="en-US" sz="4400" dirty="0"/>
          </a:p>
        </p:txBody>
      </p:sp>
      <p:sp>
        <p:nvSpPr>
          <p:cNvPr id="22" name="Text 15"/>
          <p:cNvSpPr txBox="1"/>
          <p:nvPr/>
        </p:nvSpPr>
        <p:spPr>
          <a:xfrm>
            <a:off x="5029200" y="2468880"/>
            <a:ext cx="3383280" cy="274320"/>
          </a:xfrm>
          <a:prstGeom prst="rect">
            <a:avLst/>
          </a:prstGeom>
          <a:noFill/>
          <a:ln/>
        </p:spPr>
        <p:txBody>
          <a:bodyPr wrap="square" lIns="0" tIns="0" rIns="0" bIns="0" rtlCol="0" anchor="ctr"/>
          <a:lstStyle/>
          <a:p>
            <a:pPr marL="0" indent="0">
              <a:buNone/>
            </a:pPr>
            <a:r>
              <a:rPr lang="en-US" sz="1300" dirty="0">
                <a:solidFill>
                  <a:srgbClr val="5B6270"/>
                </a:solidFill>
                <a:latin typeface="Calibri" pitchFamily="34" charset="0"/>
                <a:ea typeface="Calibri" pitchFamily="34" charset="-122"/>
                <a:cs typeface="Calibri" pitchFamily="34" charset="-120"/>
              </a:rPr>
              <a:t>lines </a:t>
            </a:r>
            <a:r>
              <a:rPr lang="en-US" sz="1300" dirty="0" smtClean="0">
                <a:solidFill>
                  <a:srgbClr val="5B6270"/>
                </a:solidFill>
                <a:latin typeface="Calibri" pitchFamily="34" charset="0"/>
                <a:ea typeface="Calibri" pitchFamily="34" charset="-122"/>
                <a:cs typeface="Calibri" pitchFamily="34" charset="-120"/>
              </a:rPr>
              <a:t>of </a:t>
            </a:r>
            <a:r>
              <a:rPr lang="en-US" sz="1300" dirty="0">
                <a:solidFill>
                  <a:srgbClr val="5B6270"/>
                </a:solidFill>
                <a:latin typeface="Calibri" pitchFamily="34" charset="0"/>
                <a:ea typeface="Calibri" pitchFamily="34" charset="-122"/>
                <a:cs typeface="Calibri" pitchFamily="34" charset="-120"/>
              </a:rPr>
              <a:t>JavaScript, no libraries</a:t>
            </a:r>
            <a:endParaRPr lang="en-US" sz="1300" dirty="0"/>
          </a:p>
        </p:txBody>
      </p:sp>
      <p:sp>
        <p:nvSpPr>
          <p:cNvPr id="23" name="Text 16"/>
          <p:cNvSpPr txBox="1"/>
          <p:nvPr/>
        </p:nvSpPr>
        <p:spPr>
          <a:xfrm>
            <a:off x="5029200" y="2834640"/>
            <a:ext cx="338328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3272F"/>
                </a:solidFill>
                <a:latin typeface="Calibri" pitchFamily="34" charset="0"/>
                <a:ea typeface="Calibri" pitchFamily="34" charset="-122"/>
                <a:cs typeface="Calibri" pitchFamily="34" charset="-120"/>
              </a:rPr>
              <a:t>A seeded layout, so the network looks the same on every visit</a:t>
            </a:r>
            <a:endParaRPr lang="en-US" sz="1300" dirty="0"/>
          </a:p>
          <a:p>
            <a:pPr marL="342900" indent="-342900">
              <a:spcAft>
                <a:spcPts val="600"/>
              </a:spcAft>
              <a:buSzPct val="100000"/>
              <a:buChar char="•"/>
            </a:pPr>
            <a:r>
              <a:rPr lang="en-US" sz="1300" dirty="0">
                <a:solidFill>
                  <a:srgbClr val="23272F"/>
                </a:solidFill>
                <a:latin typeface="Calibri" pitchFamily="34" charset="0"/>
                <a:ea typeface="Calibri" pitchFamily="34" charset="-122"/>
                <a:cs typeface="Calibri" pitchFamily="34" charset="-120"/>
              </a:rPr>
              <a:t>Breadth-first search to rank each sensor's route to the router</a:t>
            </a:r>
            <a:endParaRPr lang="en-US" sz="1300" dirty="0"/>
          </a:p>
          <a:p>
            <a:pPr marL="342900" indent="-342900">
              <a:spcAft>
                <a:spcPts val="600"/>
              </a:spcAft>
              <a:buSzPct val="100000"/>
              <a:buChar char="•"/>
            </a:pPr>
            <a:r>
              <a:rPr lang="en-US" sz="1300" dirty="0">
                <a:solidFill>
                  <a:srgbClr val="23272F"/>
                </a:solidFill>
                <a:latin typeface="Calibri" pitchFamily="34" charset="0"/>
                <a:ea typeface="Calibri" pitchFamily="34" charset="-122"/>
                <a:cs typeface="Calibri" pitchFamily="34" charset="-120"/>
              </a:rPr>
              <a:t>Canvas rendering, with a text description for screen readers</a:t>
            </a:r>
            <a:endParaRPr lang="en-US" sz="1300" dirty="0"/>
          </a:p>
        </p:txBody>
      </p:sp>
      <p:sp>
        <p:nvSpPr>
          <p:cNvPr id="24" name="Text 17"/>
          <p:cNvSpPr txBox="1"/>
          <p:nvPr/>
        </p:nvSpPr>
        <p:spPr>
          <a:xfrm>
            <a:off x="548640" y="4526280"/>
            <a:ext cx="8046720" cy="320040"/>
          </a:xfrm>
          <a:prstGeom prst="rect">
            <a:avLst/>
          </a:prstGeom>
          <a:noFill/>
          <a:ln/>
        </p:spPr>
        <p:txBody>
          <a:bodyPr wrap="square" lIns="0" tIns="0" rIns="0" bIns="0" rtlCol="0" anchor="ctr"/>
          <a:lstStyle/>
          <a:p>
            <a:pPr marL="0" indent="0">
              <a:buNone/>
            </a:pPr>
            <a:r>
              <a:rPr lang="en-US" sz="1500" b="1" dirty="0">
                <a:solidFill>
                  <a:srgbClr val="8F5C00"/>
                </a:solidFill>
                <a:latin typeface="Cambria" pitchFamily="34" charset="0"/>
                <a:ea typeface="Cambria" pitchFamily="34" charset="-122"/>
                <a:cs typeface="Cambria" pitchFamily="34" charset="-120"/>
              </a:rPr>
              <a:t>Next: a live tour of the portfolio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631</Words>
  <Application>Microsoft Office PowerPoint</Application>
  <PresentationFormat>On-screen Show (16:9)</PresentationFormat>
  <Paragraphs>57</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Ankita Mandalam: Personal Portfolio</dc:title>
  <dc:subject>PptxGenJS Presentation</dc:subject>
  <dc:creator>Ankita Mandalam</dc:creator>
  <cp:lastModifiedBy>ankita2 .mandalam</cp:lastModifiedBy>
  <cp:revision>2</cp:revision>
  <dcterms:created xsi:type="dcterms:W3CDTF">2026-09-28T00:40:44Z</dcterms:created>
  <dcterms:modified xsi:type="dcterms:W3CDTF">2026-09-28T16:05:43Z</dcterms:modified>
</cp:coreProperties>
</file>